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341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spc="500" kern="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DREAMERSJOY FLORAL STUDIO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0" y="1554480"/>
            <a:ext cx="1828800" cy="0"/>
          </a:xfrm>
          <a:prstGeom prst="line">
            <a:avLst/>
          </a:prstGeom>
          <a:noFill/>
          <a:ln w="12700">
            <a:solidFill>
              <a:srgbClr val="8B73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828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Floral Vending Machine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2423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Plan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Bergen County &amp; Wyckoff, New Jersey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VioX AI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Opportunity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097280"/>
            <a:ext cx="1097280" cy="0"/>
          </a:xfrm>
          <a:prstGeom prst="line">
            <a:avLst/>
          </a:prstGeom>
          <a:noFill/>
          <a:ln w="25400">
            <a:solidFill>
              <a:srgbClr val="8B73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71600"/>
            <a:ext cx="18288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B8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5087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ZERO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40080" y="21031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Competitors in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Bergen County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97480" y="1371600"/>
            <a:ext cx="18288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B8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97480" y="15087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B73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990K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697480" y="21031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in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Bergen County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1371600"/>
            <a:ext cx="18288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B8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5087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$196K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754880" y="21031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HHI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Wyckoff, NJ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12280" y="1371600"/>
            <a:ext cx="18288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B8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12280" y="15087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B73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$216K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812280" y="21031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Annual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Profit (3 machines)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30175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Bergen County has no flower vending machine operators. The nearest is 20 miles away in Jersey City. This is a blue ocean market in one of the most affluent counties in America.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3840480"/>
            <a:ext cx="7863840" cy="64008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84048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3-Machine Network:  $22K–$35K/mo Revenue  ·  $10K–$14K/mo Net Profit  ·  Break-even in 3–6 months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DreamersJoy Floral Studio  ·  Bergen County, NJ  ·  Prepared by VioX AI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ANALYSIS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Competitive Landscape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097280"/>
            <a:ext cx="1097280" cy="0"/>
          </a:xfrm>
          <a:prstGeom prst="line">
            <a:avLst/>
          </a:prstGeom>
          <a:noFill/>
          <a:ln w="25400">
            <a:solidFill>
              <a:srgbClr val="8B7355"/>
            </a:solidFill>
            <a:prstDash val="solid"/>
          </a:ln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78638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560320"/>
                <a:gridCol w="1188720"/>
                <a:gridCol w="18288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 Creations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Newport Centre Mall, Jersey City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$45–$85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(only NJ operator)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Venus et Fleur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Garden State Plaza, Paramus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$100–$500+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24Hour Florist Inc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National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Machine rental 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QuickFlora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Fort Lauderdale, FL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Tech/franchise platform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40080" y="3474720"/>
            <a:ext cx="7863840" cy="548640"/>
          </a:xfrm>
          <a:prstGeom prst="rect">
            <a:avLst/>
          </a:prstGeom>
          <a:solidFill>
            <a:srgbClr val="F5F0EB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34747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gap: ZERO operators in Bergen County proper. Nearest competitor is 20 miles away.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DreamersJoy Floral Studio  ·  Bergen County, NJ  ·  Prepared by VioX AI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MARKET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Affluent, Underserved Market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097280"/>
            <a:ext cx="1097280" cy="0"/>
          </a:xfrm>
          <a:prstGeom prst="line">
            <a:avLst/>
          </a:prstGeom>
          <a:noFill/>
          <a:ln w="25400">
            <a:solidFill>
              <a:srgbClr val="8B7355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78638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828800"/>
                <a:gridCol w="1645920"/>
                <a:gridCol w="210312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Municipality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 HHI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Population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Opportunity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Wyckoff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$196,632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17,400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Ridgewood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$189,000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25,200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Franklin Lakes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$212,000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11,400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Saddle River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$250,000+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3,300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Bergen County (all)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$109,497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990,000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★★★★☆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36576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Mother's Day flower spend nationally: $71. In Bergen County, premium pricing ($45–$95) is well within market tolerance.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DreamersJoy Floral Studio  ·  Bergen County, NJ  ·  Prepared by VioX AI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4-Tier Pricing Model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097280"/>
            <a:ext cx="1097280" cy="0"/>
          </a:xfrm>
          <a:prstGeom prst="line">
            <a:avLst/>
          </a:prstGeom>
          <a:noFill/>
          <a:ln w="25400">
            <a:solidFill>
              <a:srgbClr val="8B73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71600"/>
            <a:ext cx="18288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B8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916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Grab &amp; Go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B73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$28–$35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0080" y="24231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wrapped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bouquet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971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Point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697480" y="1371600"/>
            <a:ext cx="1828800" cy="2011680"/>
          </a:xfrm>
          <a:prstGeom prst="rect">
            <a:avLst/>
          </a:prstGeom>
          <a:solidFill>
            <a:srgbClr val="334155"/>
          </a:solidFill>
          <a:ln w="12700">
            <a:solidFill>
              <a:srgbClr val="C9B8A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97480" y="1371600"/>
            <a:ext cx="1828800" cy="228600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13" name="Text 11"/>
          <p:cNvSpPr/>
          <p:nvPr/>
        </p:nvSpPr>
        <p:spPr>
          <a:xfrm>
            <a:off x="2697480" y="13716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SELLER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697480" y="16916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Classic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697480" y="2011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B73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$45–$55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697480" y="24231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seasonal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bouquet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697480" y="2971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Seller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54880" y="1371600"/>
            <a:ext cx="18288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B8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16916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Premium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754880" y="2011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B73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$65–$75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754880" y="24231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arrangement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54880" y="2971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Margin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812280" y="1371600"/>
            <a:ext cx="18288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B8A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12280" y="16916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Signature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812280" y="2011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B73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$85–$95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812280" y="24231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Luxury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812280" y="2971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Market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40080" y="36118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avg transaction: $45–$55  |  COGS: 30–35%  |  Gross margin: 58–70%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0080" y="39319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Holiday pricing (Valentine's, Mother's Day, Christmas): add 30–50% premium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DreamersJoy Floral Studio  ·  Bergen County, NJ  ·  Prepared by VioX AI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#1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Valley Hospital, Paramus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097280"/>
            <a:ext cx="1097280" cy="0"/>
          </a:xfrm>
          <a:prstGeom prst="line">
            <a:avLst/>
          </a:prstGeom>
          <a:noFill/>
          <a:ln w="25400">
            <a:solidFill>
              <a:srgbClr val="8B73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716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new $800M facility opened April 2024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370 beds, 40-acre campus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Massive daily visitor traffic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3317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competing flower vendor on site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6517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visitors = highest emotional purchase intent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1371600"/>
            <a:ext cx="2103120" cy="109728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0" y="14173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SCORE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400800" y="169164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96/100</a:t>
            </a:r>
            <a:endParaRPr lang="en-US" sz="3200" dirty="0"/>
          </a:p>
        </p:txBody>
      </p:sp>
      <p:sp>
        <p:nvSpPr>
          <p:cNvPr id="14" name="Shape 12"/>
          <p:cNvSpPr/>
          <p:nvPr/>
        </p:nvSpPr>
        <p:spPr>
          <a:xfrm>
            <a:off x="6400800" y="2651760"/>
            <a:ext cx="2103120" cy="731520"/>
          </a:xfrm>
          <a:prstGeom prst="rect">
            <a:avLst/>
          </a:prstGeom>
          <a:solidFill>
            <a:srgbClr val="F5F0EB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269748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MONTHLY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400800" y="29260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$10K–$15K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40080" y="3840480"/>
            <a:ext cx="7863840" cy="457200"/>
          </a:xfrm>
          <a:prstGeom prst="rect">
            <a:avLst/>
          </a:prstGeom>
          <a:solidFill>
            <a:srgbClr val="F5F0EB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8404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Strategy:  Reach out to facilities management or gift shop operator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DreamersJoy Floral Studio  ·  Bergen County, NJ  ·  Prepared by VioX AI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#2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Westfield Garden State Plaza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097280"/>
            <a:ext cx="1097280" cy="0"/>
          </a:xfrm>
          <a:prstGeom prst="line">
            <a:avLst/>
          </a:prstGeom>
          <a:noFill/>
          <a:ln w="25400">
            <a:solidFill>
              <a:srgbClr val="8B73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716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16th largest mall in the United States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million sq ft, 300+ stores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Venus et Fleur just closed = ready-made gap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3317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a Small Business Program for entrepreneurs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6517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foot traffic, impulse buying environment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1371600"/>
            <a:ext cx="2103120" cy="109728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0" y="14173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SCORE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400800" y="169164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92/100</a:t>
            </a:r>
            <a:endParaRPr lang="en-US" sz="3200" dirty="0"/>
          </a:p>
        </p:txBody>
      </p:sp>
      <p:sp>
        <p:nvSpPr>
          <p:cNvPr id="14" name="Shape 12"/>
          <p:cNvSpPr/>
          <p:nvPr/>
        </p:nvSpPr>
        <p:spPr>
          <a:xfrm>
            <a:off x="6400800" y="2651760"/>
            <a:ext cx="2103120" cy="731520"/>
          </a:xfrm>
          <a:prstGeom prst="rect">
            <a:avLst/>
          </a:prstGeom>
          <a:solidFill>
            <a:srgbClr val="F5F0EB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269748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MONTHLY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400800" y="29260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$8K–$13K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40080" y="3840480"/>
            <a:ext cx="7863840" cy="457200"/>
          </a:xfrm>
          <a:prstGeom prst="rect">
            <a:avLst/>
          </a:prstGeom>
          <a:solidFill>
            <a:srgbClr val="F5F0EB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8404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Strategy:  Apply through Westfield Small Business Program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DreamersJoy Floral Studio  ·  Bergen County, NJ  ·  Prepared by VioX AI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#3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Cedar Hill Shopping Center, Wyckoff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097280"/>
            <a:ext cx="1097280" cy="0"/>
          </a:xfrm>
          <a:prstGeom prst="line">
            <a:avLst/>
          </a:prstGeom>
          <a:noFill/>
          <a:ln w="25400">
            <a:solidFill>
              <a:srgbClr val="8B73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716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43,370 sq ft center in home territory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955,000 annual visits within 3 miles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Surrounding household income: $218,112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3317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brand recognition for DreamersJoy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6517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Regency Centers managed property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1371600"/>
            <a:ext cx="2103120" cy="109728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0" y="14173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SCORE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400800" y="169164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85/100</a:t>
            </a:r>
            <a:endParaRPr lang="en-US" sz="3200" dirty="0"/>
          </a:p>
        </p:txBody>
      </p:sp>
      <p:sp>
        <p:nvSpPr>
          <p:cNvPr id="14" name="Shape 12"/>
          <p:cNvSpPr/>
          <p:nvPr/>
        </p:nvSpPr>
        <p:spPr>
          <a:xfrm>
            <a:off x="6400800" y="2651760"/>
            <a:ext cx="2103120" cy="731520"/>
          </a:xfrm>
          <a:prstGeom prst="rect">
            <a:avLst/>
          </a:prstGeom>
          <a:solidFill>
            <a:srgbClr val="F5F0EB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269748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MONTHLY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400800" y="29260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$5K–$8K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40080" y="3840480"/>
            <a:ext cx="7863840" cy="457200"/>
          </a:xfrm>
          <a:prstGeom prst="rect">
            <a:avLst/>
          </a:prstGeom>
          <a:solidFill>
            <a:srgbClr val="F5F0EB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8404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Strategy:  Regency Centers property management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DreamersJoy Floral Studio  ·  Bergen County, NJ  ·  Prepared by VioX AI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MODEL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Projections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097280"/>
            <a:ext cx="1097280" cy="0"/>
          </a:xfrm>
          <a:prstGeom prst="line">
            <a:avLst/>
          </a:prstGeom>
          <a:noFill/>
          <a:ln w="25400">
            <a:solidFill>
              <a:srgbClr val="8B7355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78638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011680"/>
                <a:gridCol w="2011680"/>
                <a:gridCol w="201168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Conservative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$150–$225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$4,500–$6,750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$54K–$81K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$300–$500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$9,000–$15,000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$108K–$180K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High-Traffic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$500–$800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$15,000–$24,000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$180K–$288K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29260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3-Machine Network Projection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3337560"/>
            <a:ext cx="1828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9B8A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33832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$22K–$35K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40080" y="3794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697480" y="3337560"/>
            <a:ext cx="1828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9B8A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697480" y="33832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$10K–$14K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2697480" y="3794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Net Profit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754880" y="3337560"/>
            <a:ext cx="1828800" cy="822960"/>
          </a:xfrm>
          <a:prstGeom prst="rect">
            <a:avLst/>
          </a:prstGeom>
          <a:solidFill>
            <a:srgbClr val="334155"/>
          </a:solidFill>
          <a:ln w="12700">
            <a:solidFill>
              <a:srgbClr val="C9B8A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54880" y="33832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$122K–$172K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4754880" y="3794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Net Profit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812280" y="3337560"/>
            <a:ext cx="1828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9B8A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812280" y="33832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3–6 months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6812280" y="3794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DreamersJoy Floral Studio  ·  Bergen County, NJ  ·  Prepared by VioX AI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Startup Costs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097280"/>
            <a:ext cx="1097280" cy="0"/>
          </a:xfrm>
          <a:prstGeom prst="line">
            <a:avLst/>
          </a:prstGeom>
          <a:noFill/>
          <a:ln w="25400">
            <a:solidFill>
              <a:srgbClr val="8B7355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786384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2103120"/>
                <a:gridCol w="210312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Machine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Machines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Refrigerated vending machine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$8,000–$12,000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$24,000–$36,000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Initial flower inventory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$500–$1,000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$1,500–$3,000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LLC / registration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$125–$500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$125–$500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Insurance (annual)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$200–$600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$200–$600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Machine branding / wrap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$500–$2,000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$1,500–$6,000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$9,325–$16,100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$27,325–$46,100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DreamersJoy Floral Studio  ·  Bergen County, NJ  ·  Prepared by VioX AI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MODEL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Monthly P&amp;L (3 Machines)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097280"/>
            <a:ext cx="1097280" cy="0"/>
          </a:xfrm>
          <a:prstGeom prst="line">
            <a:avLst/>
          </a:prstGeom>
          <a:noFill/>
          <a:ln w="25400">
            <a:solidFill>
              <a:srgbClr val="8B73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71600"/>
            <a:ext cx="3657600" cy="45720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71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REVENUE: $22,000–$35,000/mo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011680"/>
          <a:ext cx="3657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3716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Expense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Cost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Flower inventory (COGS 30–35%)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$6,600–$12,250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Driver / restocking labor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$1,000–$1,500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 commissions (15%)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$3,300–$5,250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Electricity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$90–$300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Insurance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$50–$150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Maintenance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$150–$300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 processing (2.7%)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$594–$945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COSTS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$11,784–$20,695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029200" y="1371600"/>
            <a:ext cx="3474720" cy="228600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0" y="15544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300" kern="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PROFIT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029200" y="192024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$10,216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–$14,305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5029200" y="27432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029200" y="31089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$122K–$172K annually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DreamersJoy Floral Studio  ·  Bergen County, NJ  ·  Prepared by VioX AI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Restocking System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097280"/>
            <a:ext cx="1097280" cy="0"/>
          </a:xfrm>
          <a:prstGeom prst="line">
            <a:avLst/>
          </a:prstGeom>
          <a:noFill/>
          <a:ln w="25400">
            <a:solidFill>
              <a:srgbClr val="8B73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417320"/>
            <a:ext cx="320040" cy="320040"/>
          </a:xfrm>
          <a:prstGeom prst="ellipse">
            <a:avLst/>
          </a:prstGeom>
          <a:solidFill>
            <a:srgbClr val="334155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173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13716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(Wyckoff) → Cedar Hill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7280" y="160020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1920240"/>
            <a:ext cx="320040" cy="320040"/>
          </a:xfrm>
          <a:prstGeom prst="ellipse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9202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0" y="18745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Cedar Hill → Valley Hospital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97280" y="210312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2423160"/>
            <a:ext cx="320040" cy="320040"/>
          </a:xfrm>
          <a:prstGeom prst="ellipse">
            <a:avLst/>
          </a:prstGeom>
          <a:solidFill>
            <a:srgbClr val="334155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4231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97280" y="23774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Valley Hospital → Garden State Plaza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97280" y="260604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" y="2926080"/>
            <a:ext cx="320040" cy="320040"/>
          </a:xfrm>
          <a:prstGeom prst="ellipse">
            <a:avLst/>
          </a:prstGeom>
          <a:solidFill>
            <a:srgbClr val="334155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29260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97280" y="28803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GSP → Studio (return)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97280" y="310896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min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303520" y="1371600"/>
            <a:ext cx="3200400" cy="2286000"/>
          </a:xfrm>
          <a:prstGeom prst="rect">
            <a:avLst/>
          </a:prstGeom>
          <a:solidFill>
            <a:srgbClr val="F5F0EB"/>
          </a:solidFill>
          <a:ln/>
        </p:spPr>
      </p:sp>
      <p:sp>
        <p:nvSpPr>
          <p:cNvPr id="23" name="Text 21"/>
          <p:cNvSpPr/>
          <p:nvPr/>
        </p:nvSpPr>
        <p:spPr>
          <a:xfrm>
            <a:off x="5303520" y="146304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303520" y="17373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 · Wed · Fri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303520" y="20574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3x per week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760720" y="2377440"/>
            <a:ext cx="2286000" cy="0"/>
          </a:xfrm>
          <a:prstGeom prst="line">
            <a:avLst/>
          </a:prstGeom>
          <a:noFill/>
          <a:ln w="6350">
            <a:solidFill>
              <a:srgbClr val="C9B8A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03520" y="246888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 hours per run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30–45 min per machine stop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Driver: $20/hr part-time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$960–$1,200/month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40080" y="3840480"/>
            <a:ext cx="7863840" cy="45720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38404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DreamersJoy studio IS the supply chain. You already have the design capability and wholesale sourcing.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DreamersJoy Floral Studio  ·  Bergen County, NJ  ·  Prepared by VioX AI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MANAGEMENT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Spoilage &amp; Inventory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097280"/>
            <a:ext cx="1097280" cy="0"/>
          </a:xfrm>
          <a:prstGeom prst="line">
            <a:avLst/>
          </a:prstGeom>
          <a:noFill/>
          <a:ln w="25400">
            <a:solidFill>
              <a:srgbClr val="8B73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716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flowers last 3–5 days in refrigerated machine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waste rate: under 15%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1031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FIFO rotation (First In, First Out)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4688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monitoring: real-time temperature alerts + sales notifications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8346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Pulled product → donate or use for studio display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2004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Holiday weeks: daily restocking required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5661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failure protocol: 4+ hours offline = total loss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DreamersJoy Floral Studio  ·  Bergen County, NJ  ·  Prepared by VioX AI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to Secure Locations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097280"/>
            <a:ext cx="1097280" cy="0"/>
          </a:xfrm>
          <a:prstGeom prst="line">
            <a:avLst/>
          </a:prstGeom>
          <a:noFill/>
          <a:ln w="25400">
            <a:solidFill>
              <a:srgbClr val="8B73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716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73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137160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cost to the location — you provide, stock, and maintain everything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73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8720" y="182880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revenue share — they earn 10–25% for doing nothing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2860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73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88720" y="228600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Enhances visitor/customer experience — adds value to their space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27432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73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88720" y="274320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availability — no staffing required from them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32004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73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88720" y="320040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appearance — DreamersJoy branded, matches aesthetics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36576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73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88720" y="365760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liability insurance provided — zero risk for them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41148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Contract: 1–3 year agreements  ·  30-day termination clause  ·  10–25% revenue share or $200–$500/mo flat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DreamersJoy Floral Studio  ·  Bergen County, NJ  ·  Prepared by VioX AI</a:t>
            </a:r>
            <a:endParaRPr lang="en-US" sz="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PRICING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Bouquets (Hand-Tied)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097280"/>
            <a:ext cx="1097280" cy="0"/>
          </a:xfrm>
          <a:prstGeom prst="line">
            <a:avLst/>
          </a:prstGeom>
          <a:noFill/>
          <a:ln w="25400">
            <a:solidFill>
              <a:srgbClr val="8B7355"/>
            </a:solidFill>
            <a:prstDash val="solid"/>
          </a:ln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78638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828800"/>
                <a:gridCol w="1828800"/>
                <a:gridCol w="192024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Wholesale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Retail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Margin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Petite Bouquet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$8–$12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$28–$35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65–70%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Classic Bouquet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$15–$20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$45–$55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63–67%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 Bouquet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$22–$28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$65–$75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63–66%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Signature Bouquet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$30–$40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$85–$95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58–65%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34747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machine skews $45–$75 (emotional purchases). Mall machine skews $28–$55 (convenience).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DreamersJoy Floral Studio  ·  Bergen County, NJ  ·  Prepared by VioX AI</a:t>
            </a:r>
            <a:endParaRPr lang="en-US" sz="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PRICING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Arrangements (In Vessel)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097280"/>
            <a:ext cx="1097280" cy="0"/>
          </a:xfrm>
          <a:prstGeom prst="line">
            <a:avLst/>
          </a:prstGeom>
          <a:noFill/>
          <a:ln w="25400">
            <a:solidFill>
              <a:srgbClr val="8B7355"/>
            </a:solidFill>
            <a:prstDash val="solid"/>
          </a:ln>
        </p:spPr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78638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828800"/>
                <a:gridCol w="1828800"/>
                <a:gridCol w="192024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Wholesale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Retail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Margin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Petite Arrangement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$18–$25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$55–$65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62–67%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Signature Arrangement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$30–$40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$85–$95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58–65%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Statement Arrangement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$45–$55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$110–$125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56–59%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30175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Holiday pricing adds 30–50% premium across all tiers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DreamersJoy Floral Studio  ·  Bergen County, NJ  ·  Prepared by VioX AI</a:t>
            </a:r>
            <a:endParaRPr lang="en-US" sz="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CONTEXT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Growing Global Market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097280"/>
            <a:ext cx="1097280" cy="0"/>
          </a:xfrm>
          <a:prstGeom prst="line">
            <a:avLst/>
          </a:prstGeom>
          <a:noFill/>
          <a:ln w="25400">
            <a:solidFill>
              <a:srgbClr val="8B73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71600"/>
            <a:ext cx="1828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B8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630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$1.2B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40080" y="19659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Market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97480" y="1371600"/>
            <a:ext cx="1828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B8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97480" y="14630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$2.5B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697480" y="19659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2033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1371600"/>
            <a:ext cx="1828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B8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4630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9.1%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754880" y="19659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Growth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(CAGR)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12280" y="1371600"/>
            <a:ext cx="1828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B8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12280" y="14630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$27B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812280" y="19659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Vending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28346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Trends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315468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AI-powered inventory management reducing spoilage by 30–40%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" y="342900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IoT monitoring for real-time temperature and sales alerts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" y="370332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Contactless/cashless payment adoption accelerating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" y="397764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Sustainability trends: solar-powered units, biodegradable packaging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" y="425196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Flower vending = 35–38% of self-service floral retail market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DreamersJoy Floral Studio  ·  Bergen County, NJ  ·  Prepared by VioX AI</a:t>
            </a:r>
            <a:endParaRPr lang="en-US" sz="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ASSESSMENT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 Matrix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097280"/>
            <a:ext cx="1097280" cy="0"/>
          </a:xfrm>
          <a:prstGeom prst="line">
            <a:avLst/>
          </a:prstGeom>
          <a:noFill/>
          <a:ln w="25400">
            <a:solidFill>
              <a:srgbClr val="8B7355"/>
            </a:solidFill>
            <a:prstDash val="solid"/>
          </a:ln>
        </p:spPr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786384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914400"/>
                <a:gridCol w="914400"/>
                <a:gridCol w="438912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Likelihood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Spoilage / waste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Smart inventory, FIFO, 3x/week restock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Equipment failure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IoT monitoring, service contract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 loss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Multi-year contracts, relationships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Competition entry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First-mover advantage, brand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Seasonal dips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Holiday premiums offset slow months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Regulatory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business licensing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DreamersJoy Floral Studio  ·  Bergen County, NJ  ·  Prepared by VioX AI</a:t>
            </a:r>
            <a:endParaRPr lang="en-US" sz="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4-Phase Growth Roadmap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097280"/>
            <a:ext cx="1097280" cy="0"/>
          </a:xfrm>
          <a:prstGeom prst="line">
            <a:avLst/>
          </a:prstGeom>
          <a:noFill/>
          <a:ln w="25400">
            <a:solidFill>
              <a:srgbClr val="8B73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71600"/>
            <a:ext cx="19202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B8A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371600"/>
            <a:ext cx="1920240" cy="32004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3716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18288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73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Months 1–3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219456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machine at Valley Hospital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the model, refine operations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0" y="1371600"/>
            <a:ext cx="19202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B8A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0" y="1371600"/>
            <a:ext cx="1920240" cy="320040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0" y="13716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743200" y="18288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73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Months 4–6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880360" y="219456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Garden State Plaza &amp; Cedar Hill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3-machine network established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46320" y="1371600"/>
            <a:ext cx="19202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B8A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46320" y="1371600"/>
            <a:ext cx="1920240" cy="32004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13716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46320" y="18288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73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Months 7–12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83480" y="219456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to 5–7 machines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Bergen County coverage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949440" y="1371600"/>
            <a:ext cx="19202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B8A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49440" y="1371600"/>
            <a:ext cx="1920240" cy="320040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23" name="Text 21"/>
          <p:cNvSpPr/>
          <p:nvPr/>
        </p:nvSpPr>
        <p:spPr>
          <a:xfrm>
            <a:off x="6949440" y="13716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949440" y="18288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73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Year 2+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086600" y="219456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10–15 machines, franchise model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to Passaic, Essex, Rockland NY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0080" y="37490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5-Year Projection:  10–15 machines  ·  $400K–$700K annual revenue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DreamersJoy Floral Studio  ·  Bergen County, NJ  ·  Prepared by VioX AI</a:t>
            </a:r>
            <a:endParaRPr lang="en-US" sz="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EDGE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DreamersJoy Advantage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097280"/>
            <a:ext cx="1097280" cy="0"/>
          </a:xfrm>
          <a:prstGeom prst="line">
            <a:avLst/>
          </a:prstGeom>
          <a:noFill/>
          <a:ln w="25400">
            <a:solidFill>
              <a:srgbClr val="8B73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71600"/>
            <a:ext cx="54864" cy="365760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37160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supply chain — studio already designs arrangements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1874520"/>
            <a:ext cx="54864" cy="365760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87452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 brand recognition in Bergen County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377440"/>
            <a:ext cx="54864" cy="365760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37744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Wholesale flower sourcing already in place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2880360"/>
            <a:ext cx="54864" cy="365760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288036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expertise ensures premium quality above competitors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3383280"/>
            <a:ext cx="54864" cy="365760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38328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COGS than a startup from scratch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886200"/>
            <a:ext cx="54864" cy="365760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388620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recognition drives trust in vending context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3840480"/>
            <a:ext cx="7863840" cy="502920"/>
          </a:xfrm>
          <a:prstGeom prst="rect">
            <a:avLst/>
          </a:prstGeom>
          <a:solidFill>
            <a:srgbClr val="F5F0EB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84048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studio becomes the production hub. The machines are just a new distribution channel for your existing operation.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DreamersJoy Floral Studio  ·  Bergen County, NJ  ·  Prepared by VioX AI</a:t>
            </a:r>
            <a:endParaRPr lang="en-US" sz="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PLAN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Immediate Next Steps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097280"/>
            <a:ext cx="1097280" cy="0"/>
          </a:xfrm>
          <a:prstGeom prst="line">
            <a:avLst/>
          </a:prstGeom>
          <a:noFill/>
          <a:ln w="25400">
            <a:solidFill>
              <a:srgbClr val="8B73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408176"/>
            <a:ext cx="256032" cy="256032"/>
          </a:xfrm>
          <a:prstGeom prst="ellipse">
            <a:avLst/>
          </a:prstGeom>
          <a:solidFill>
            <a:srgbClr val="334155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0817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51560" y="13716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LLC for vending operation (or add to existing entity)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1773936"/>
            <a:ext cx="256032" cy="256032"/>
          </a:xfrm>
          <a:prstGeom prst="ellipse">
            <a:avLst/>
          </a:prstGeom>
          <a:solidFill>
            <a:srgbClr val="334155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77393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51560" y="17373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first refrigerated vending machine ($8–12K)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2139696"/>
            <a:ext cx="256032" cy="256032"/>
          </a:xfrm>
          <a:prstGeom prst="ellipse">
            <a:avLst/>
          </a:prstGeom>
          <a:solidFill>
            <a:srgbClr val="334155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13969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51560" y="21031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Valley Hospital facilities management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2505456"/>
            <a:ext cx="256032" cy="256032"/>
          </a:xfrm>
          <a:prstGeom prst="ellipse">
            <a:avLst/>
          </a:prstGeom>
          <a:solidFill>
            <a:srgbClr val="334155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50545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51560" y="24688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to Westfield GSP Small Business Program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2871216"/>
            <a:ext cx="256032" cy="256032"/>
          </a:xfrm>
          <a:prstGeom prst="ellipse">
            <a:avLst/>
          </a:prstGeom>
          <a:solidFill>
            <a:srgbClr val="334155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287121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51560" y="2834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Regency Centers (Cedar Hill) property management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3236976"/>
            <a:ext cx="256032" cy="256032"/>
          </a:xfrm>
          <a:prstGeom prst="ellipse">
            <a:avLst/>
          </a:prstGeom>
          <a:solidFill>
            <a:srgbClr val="334155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23697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51560" y="32004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DreamersJoy-branded machine wrap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3602736"/>
            <a:ext cx="256032" cy="256032"/>
          </a:xfrm>
          <a:prstGeom prst="ellipse">
            <a:avLst/>
          </a:prstGeom>
          <a:solidFill>
            <a:srgbClr val="334155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360273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51560" y="35661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inventory tracking system (spreadsheet or IoT dashboard)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0080" y="3968496"/>
            <a:ext cx="256032" cy="256032"/>
          </a:xfrm>
          <a:prstGeom prst="ellipse">
            <a:avLst/>
          </a:prstGeom>
          <a:solidFill>
            <a:srgbClr val="334155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396849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051560" y="3931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 part-time driver / restocking person ($20/hr)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40080" y="4389120"/>
            <a:ext cx="7863840" cy="320040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43891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TIMELINE:  First machine operational within 60 days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DreamersJoy Floral Studio  ·  Bergen County, NJ  ·  Prepared by VioX AI</a:t>
            </a:r>
            <a:endParaRPr lang="en-US" sz="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3341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Market Is Open.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0" y="2011680"/>
            <a:ext cx="1828800" cy="0"/>
          </a:xfrm>
          <a:prstGeom prst="line">
            <a:avLst/>
          </a:prstGeom>
          <a:noFill/>
          <a:ln w="12700">
            <a:solidFill>
              <a:srgbClr val="8B73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0" y="228600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Bergen County has zero flower vending machines, nearly one million residents, and some of the highest household incomes in America.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30175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DreamersJoy is uniquely positioned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own this space.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0" y="3749040"/>
            <a:ext cx="1828800" cy="0"/>
          </a:xfrm>
          <a:prstGeom prst="line">
            <a:avLst/>
          </a:prstGeom>
          <a:noFill/>
          <a:ln w="6350">
            <a:solidFill>
              <a:srgbClr val="8B73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931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DreamersJoy Floral Studio  ·  Bergen County, NJ  ·  dreamersjoystudio.com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4297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VioX AI  ·  April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DreamersJoy Floral Vending Machine Business Plan</dc:title>
  <dc:subject>PptxGenJS Presentation</dc:subject>
  <dc:creator>VioX AI</dc:creator>
  <cp:lastModifiedBy>VioX AI</cp:lastModifiedBy>
  <cp:revision>1</cp:revision>
  <dcterms:created xsi:type="dcterms:W3CDTF">2026-04-10T23:42:31Z</dcterms:created>
  <dcterms:modified xsi:type="dcterms:W3CDTF">2026-04-10T23:42:31Z</dcterms:modified>
</cp:coreProperties>
</file>